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Генератор кода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Генератор кода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Виртуальная машин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Виртуальная машина</a:t>
            </a:r>
          </a:p>
        </p:txBody>
      </p:sp>
      <p:sp>
        <p:nvSpPr>
          <p:cNvPr id="174" name="Мы не будем рассматривать генерацию кода для реального процессора. Это сопряжено с множеством трудностей.…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Мы не будем рассматривать генерацию кода для реального процессора. Это сопряжено с множеством трудностей. </a:t>
            </a:r>
          </a:p>
          <a:p>
            <a:pPr marL="0" indent="0">
              <a:buSzTx/>
              <a:buNone/>
            </a:pPr>
            <a:r>
              <a:t>Вместо этого напишем программу, которая будет имитировать работу простенького процессора. Наш компилятор сможет работать на любой архитектуре процессора, за счет реализации программного-виртуального процессора. Нужен лишь компилятор C++, для запуска программы.</a:t>
            </a:r>
          </a:p>
          <a:p>
            <a:pPr marL="0" indent="0">
              <a:buSzTx/>
              <a:buNone/>
            </a:pPr>
            <a:r>
              <a:t>Несуществующий абстрактный компьютер, работа которого реализуется на реальной машине с помощью программных средств называется виртуальной машиной.</a:t>
            </a:r>
          </a:p>
          <a:p>
            <a:pPr marL="0" indent="0">
              <a:buSzTx/>
              <a:buNone/>
            </a:pPr>
            <a:r>
              <a:t>Наш компьютер будет называться - ОВМ.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Архитектура ОВМ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Архитектура ОВМ</a:t>
            </a:r>
          </a:p>
        </p:txBody>
      </p:sp>
      <p:sp>
        <p:nvSpPr>
          <p:cNvPr id="177" name="ОВМ будет содержать процессор и память. Процессор способен выполнять определенный набор команд, а также содержит ряд регистров в памяти. Также в памяти будет храниться программа и данные.…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ОВМ будет содержать процессор и память. Процессор способен выполнять определенный набор команд, а также содержит ряд регистров в памяти. Также в памяти будет храниться программа и данные.</a:t>
            </a:r>
          </a:p>
          <a:p>
            <a:pPr marL="0" indent="0">
              <a:buSzTx/>
              <a:buNone/>
            </a:pPr>
            <a:r>
              <a:t>В языке О есть данные только целого типа, поэтому память будет состоять из слов-ячеек, каждая из которых хранит в себе одно целое число. Каждое слово имеет уникальный адрес, который выражается целым числом.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6025" y="791650"/>
            <a:ext cx="17231950" cy="12132700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Процессор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Процессор</a:t>
            </a:r>
          </a:p>
        </p:txBody>
      </p:sp>
      <p:sp>
        <p:nvSpPr>
          <p:cNvPr id="182" name="В качестве виртуального процессора будем использовать стековую машину с безадресной системой команд. Программа для такой машины представляет собой последовательность операндов и операций, соответствующих обратной польской записи программы.…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В качестве виртуального процессора будем использовать стековую машину с безадресной системой команд. Программа для такой машины представляет собой последовательность операндов и операций, соответствующих обратной польской записи программы.</a:t>
            </a:r>
          </a:p>
          <a:p>
            <a:pPr marL="0" indent="0">
              <a:buSzTx/>
              <a:buNone/>
            </a:pPr>
            <a:r>
              <a:t>Операнд заносятся в стек, операции выполняются над верхними элементами стека, результат операции заменяет собой верхние операнды.</a:t>
            </a:r>
          </a:p>
          <a:p>
            <a:pPr marL="0" indent="0">
              <a:buSzTx/>
              <a:buNone/>
            </a:pPr>
            <a:r>
              <a:t>Каждый операнд, это одно слово в памяти. Для различий операндов и операций в стеке, предусмотрим кодирование операций отрицательными числами, соответсвенно не может быть указан отрицательный операнд в стеке. Для указания ударного минуса будет использоваться специальная операция.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Программный счетчи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Программный счетчик</a:t>
            </a:r>
          </a:p>
        </p:txBody>
      </p:sp>
      <p:sp>
        <p:nvSpPr>
          <p:cNvPr id="185" name="Команды программы располагаются в памяти ОВМ. Процессор выполняют команды одну за другой, начиная с команды по адресу 0.…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Команды программы располагаются в памяти ОВМ. Процессор выполняют команды одну за другой, начиная с команды по адресу 0.</a:t>
            </a:r>
          </a:p>
          <a:p>
            <a:pPr marL="0" indent="0">
              <a:buSzTx/>
              <a:buNone/>
            </a:pPr>
            <a:r>
              <a:t>Адрес очередной команды для исполнения, записан в регистре процессора, обозначаемом PC (program counter).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Сте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Стек </a:t>
            </a:r>
          </a:p>
        </p:txBody>
      </p:sp>
      <p:sp>
        <p:nvSpPr>
          <p:cNvPr id="188" name="Стек, используемый ОВМ для вычисления, будет находиться в старших адресах памяти.…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Стек, используемый ОВМ для вычисления, будет находиться в старших адресах памяти.</a:t>
            </a:r>
          </a:p>
          <a:p>
            <a:pPr marL="0" indent="0">
              <a:buSzTx/>
              <a:buNone/>
            </a:pPr>
            <a:r>
              <a:t>На текущую вершину указывает регистр процессора SP (stack pointer). SP указывает на адрес ячейки, являющейся вершиной стека.</a:t>
            </a:r>
          </a:p>
          <a:p>
            <a:pPr marL="0" indent="0">
              <a:buSzTx/>
              <a:buNone/>
            </a:pPr>
            <a:r>
              <a:t>Значение SP уменьшается при добавлении элементов в стек.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Система команд"/>
          <p:cNvSpPr txBox="1"/>
          <p:nvPr>
            <p:ph type="title"/>
          </p:nvPr>
        </p:nvSpPr>
        <p:spPr>
          <a:xfrm>
            <a:off x="306021" y="131628"/>
            <a:ext cx="21971001" cy="1433163"/>
          </a:xfrm>
          <a:prstGeom prst="rect">
            <a:avLst/>
          </a:prstGeom>
        </p:spPr>
        <p:txBody>
          <a:bodyPr/>
          <a:lstStyle/>
          <a:p>
            <a:pPr/>
            <a:r>
              <a:t>Система команд</a:t>
            </a:r>
          </a:p>
        </p:txBody>
      </p:sp>
      <p:pic>
        <p:nvPicPr>
          <p:cNvPr id="19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67352" y="1709959"/>
            <a:ext cx="16249296" cy="11544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35685" y="210942"/>
            <a:ext cx="11512630" cy="132941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Система команд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Система команд</a:t>
            </a:r>
          </a:p>
        </p:txBody>
      </p:sp>
      <p:sp>
        <p:nvSpPr>
          <p:cNvPr id="196" name="Двухместные операции (ADD, SUB, MUL, DIV, MOD) заменяют два операнд с вершины стека результатом выполнения операции.…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Двухместные операции (ADD, SUB, MUL, DIV, MOD) заменяют два операнд с вершины стека результатом выполнения операции.</a:t>
            </a:r>
          </a:p>
          <a:p>
            <a:pPr marL="0" indent="0">
              <a:buSzTx/>
              <a:buNone/>
            </a:pPr>
            <a:r>
              <a:t>Операция NEG меняет знак операнд на вершине стека.</a:t>
            </a:r>
          </a:p>
          <a:p>
            <a:pPr marL="0" indent="0">
              <a:buSzTx/>
              <a:buNone/>
            </a:pPr>
            <a:r>
              <a:t>Команда LOAD загружает на вершину стека значение, хранящееся в памяти по указанному адресу A.</a:t>
            </a:r>
          </a:p>
          <a:p>
            <a:pPr marL="0" indent="0">
              <a:buSzTx/>
              <a:buNone/>
            </a:pPr>
            <a:r>
              <a:t>Команда SAVE сохраняет взятое со стека значение по адресу A. Перед выполнением SAVE на вершине стека должно быть сохраняемое значение, а под ним адрес.</a:t>
            </a:r>
          </a:p>
          <a:p>
            <a:pPr marL="0" indent="0">
              <a:buSzTx/>
              <a:buNone/>
            </a:pPr>
            <a:r>
              <a:t>Команда DUP - дублирует значение на вершине стека.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Система команд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Система команд</a:t>
            </a:r>
          </a:p>
        </p:txBody>
      </p:sp>
      <p:sp>
        <p:nvSpPr>
          <p:cNvPr id="199" name="Команда DROP - уничтожает верхний элемент.…"/>
          <p:cNvSpPr txBox="1"/>
          <p:nvPr>
            <p:ph type="body" idx="1"/>
          </p:nvPr>
        </p:nvSpPr>
        <p:spPr>
          <a:xfrm>
            <a:off x="1206500" y="3519366"/>
            <a:ext cx="21971000" cy="917037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Команда DROP - уничтожает верхний элемент.</a:t>
            </a:r>
          </a:p>
          <a:p>
            <a:pPr marL="0" indent="0">
              <a:buSzTx/>
              <a:buNone/>
            </a:pPr>
            <a:r>
              <a:t>Команда SWAP - меняет местами два верхних элементам стека.</a:t>
            </a:r>
          </a:p>
          <a:p>
            <a:pPr marL="0" indent="0">
              <a:buSzTx/>
              <a:buNone/>
            </a:pPr>
            <a:r>
              <a:t>Команда OVER - дублирует на вершине стека элемент, находившийся под вершиной.</a:t>
            </a:r>
          </a:p>
          <a:p>
            <a:pPr marL="0" indent="0">
              <a:buSzTx/>
              <a:buNone/>
            </a:pPr>
            <a:r>
              <a:t>Команда GOTO - выполняет переход по адресу, находящемуся на вершине стека (по сути PC присваиваем значение адреса с вершины стека).</a:t>
            </a:r>
          </a:p>
          <a:p>
            <a:pPr marL="0" indent="0">
              <a:buSzTx/>
              <a:buNone/>
            </a:pPr>
            <a:r>
              <a:t>Условные операции - требуется наличие трех операндов в стеке, самый верхний операнд это адрес, по которому осуществляется переход, если выполняется отношение между двумя следующими операндами.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Пример работы генератора ко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Пример работы генератора кода</a:t>
            </a:r>
          </a:p>
        </p:txBody>
      </p:sp>
      <p:sp>
        <p:nvSpPr>
          <p:cNvPr id="202" name="Давайте рассмотрим работу генератора кода на небольшом примере."/>
          <p:cNvSpPr txBox="1"/>
          <p:nvPr>
            <p:ph type="body" idx="1"/>
          </p:nvPr>
        </p:nvSpPr>
        <p:spPr>
          <a:xfrm>
            <a:off x="1206500" y="3238706"/>
            <a:ext cx="21971000" cy="9265810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Давайте рассмотрим работу генератора кода на небольшом примере.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